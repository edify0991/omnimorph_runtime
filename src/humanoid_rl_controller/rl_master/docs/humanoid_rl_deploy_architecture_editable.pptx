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08760" y="137160"/>
            <a:ext cx="79552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Noto Sans CJK SC"/>
              </a:rPr>
              <a:t>人形机器人 RL 部署运行时架构与数据流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02336"/>
            <a:ext cx="768096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Noto Sans CJK SC"/>
              </a:rPr>
              <a:t>实机 RL_solver 与 MuJoCo sim2sim 共用 IntegratedControllerRuntime / RL_controller 控制核心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" y="685800"/>
            <a:ext cx="2308860" cy="5989320"/>
          </a:xfrm>
          <a:prstGeom prst="roundRect">
            <a:avLst/>
          </a:prstGeom>
          <a:solidFill>
            <a:srgbClr val="FFF7DF"/>
          </a:solidFill>
          <a:ln w="12700">
            <a:solidFill>
              <a:srgbClr val="D7C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777240"/>
            <a:ext cx="212598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SC"/>
              </a:rPr>
              <a:t>外部输入与配置资产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685800"/>
            <a:ext cx="4206240" cy="5989320"/>
          </a:xfrm>
          <a:prstGeom prst="roundRect">
            <a:avLst/>
          </a:prstGeom>
          <a:solidFill>
            <a:srgbClr val="F2EDFF"/>
          </a:solidFill>
          <a:ln w="12700">
            <a:solidFill>
              <a:srgbClr val="C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777240"/>
            <a:ext cx="4023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SC"/>
              </a:rPr>
              <a:t>共享策略控制核心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685800"/>
            <a:ext cx="3497580" cy="5989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B7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777240"/>
            <a:ext cx="331470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SC"/>
              </a:rPr>
              <a:t>执行后端与可观测输出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74420"/>
            <a:ext cx="1988820" cy="457200"/>
          </a:xfrm>
          <a:prstGeom prst="roundRect">
            <a:avLst/>
          </a:prstGeom>
          <a:solidFill>
            <a:srgbClr val="FFFDF6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操作员 GUI / 脚本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humanoid_ops_gui.py、手柄、shell 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1988820" cy="525780"/>
          </a:xfrm>
          <a:prstGeom prst="roundRect">
            <a:avLst/>
          </a:prstGeom>
          <a:solidFill>
            <a:srgbClr val="FFFDF6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DDS / ROS 2 控制话题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/humanoid/rl/teleop
/humanoid/rl/mode_control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77440"/>
            <a:ext cx="1988820" cy="457200"/>
          </a:xfrm>
          <a:prstGeom prst="roundRect">
            <a:avLst/>
          </a:prstGeom>
          <a:solidFill>
            <a:srgbClr val="FFFDF6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IMU 输入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/imu/yesense
仅实机路径使用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154680"/>
            <a:ext cx="1988820" cy="52578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模式与机器人配置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rl_cfg.yaml + profiles/*.yaml
关节顺序、增益、限幅、策略组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40480"/>
            <a:ext cx="1988820" cy="48006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观测清单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observation_manifest_*.yaml
观测项顺序与维度合同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480560"/>
            <a:ext cx="1988820" cy="41148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策略资产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policies/*.onnx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052060"/>
            <a:ext cx="1988820" cy="50292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参考轨迹 / 外部特征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ReferenceMotionProvider
ExternalObservationProvider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1074420"/>
            <a:ext cx="157734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ModeProfileRegistry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一次性加载 deploy_mode_profiles
按 mode 解析 config_section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7740" y="1074420"/>
            <a:ext cx="203454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Noto Sans CJK SC"/>
              </a:rPr>
              <a:t>IntegratedControllerRuntime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缓存最新 teleop 与 mode 命令
计算 phase_t，调用控制器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1851660"/>
            <a:ext cx="217170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Noto Sans CJK SC"/>
              </a:rPr>
              <a:t>RL_controller::step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更新状态/命令、模式切换、观测构造、策略推理、命令组装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628900"/>
            <a:ext cx="1600200" cy="525780"/>
          </a:xfrm>
          <a:prstGeom prst="roundRect">
            <a:avLst/>
          </a:prstGeom>
          <a:solidFill>
            <a:srgbClr val="FFFDF4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DeployStateMachine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回零、启动、停止、急停
解析 mode/lifecycle 控制字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91456" y="2628900"/>
            <a:ext cx="2020824" cy="525780"/>
          </a:xfrm>
          <a:prstGeom prst="roundRect">
            <a:avLst/>
          </a:prstGeom>
          <a:solidFill>
            <a:srgbClr val="FFFDF4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当前 ModeProfile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obs/action/reference 关节合同
policy adapter 与 strategy 设置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474720"/>
            <a:ext cx="1805940" cy="57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Noto Sans CJK SC"/>
              </a:rPr>
              <a:t>ObservationFeatureContext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RobotState + teleop + phase_t
last_action + 参考/外部特征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6340" y="3474720"/>
            <a:ext cx="1805940" cy="57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ObservationBuilder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按 manifest 注册表拼接
确定性的 obs 向量布局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4366260"/>
            <a:ext cx="18059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观测历史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obs deque
stacked observation buffer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6340" y="4366260"/>
            <a:ext cx="18059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Noto Sans CJK SC"/>
              </a:rPr>
              <a:t>PolicyInferenceStrategy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sync weighted
或 chunked receding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5189220"/>
            <a:ext cx="18059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OnnxPolicyAdapter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统一策略后端接口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6340" y="5189220"/>
            <a:ext cx="18059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OnnxPolicyRunner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ONNX Runtime 推理
action + 可选 extra outputs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500" y="5943600"/>
            <a:ext cx="1805940" cy="5257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RobotCommandData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目标 q、力矩、增益
runtime command mode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143000"/>
            <a:ext cx="315468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实机路径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RL_solver / RobotSolver
DDS 输入缓存、电机状态读取、HOLD 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851660"/>
            <a:ext cx="315468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电机共享内存 I/O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MotorShmIo + 运动学转换
读关节反馈 / 写目标与力矩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2560320"/>
            <a:ext cx="3154680" cy="4800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机器人电机与传感器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joint q/dq、力矩、状态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566160"/>
            <a:ext cx="31546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MuJoCo sim2sim 路径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mujoco_sim_bridge C++ 后端
从 qpos/qvel/base/body 构造 RobotState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297680"/>
            <a:ext cx="3154680" cy="4800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MuJoCo 执行器写回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策略关节 + HOLD 关节
mj_step / hold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960620"/>
            <a:ext cx="31546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查看器 / 前端镜像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GLFW 或 Python viewer 话题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5806440"/>
            <a:ext cx="3154680" cy="571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SC"/>
              </a:rPr>
              <a:t>可观测输出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Noto Sans CJK SC"/>
              </a:rPr>
              <a:t>/humanoid/rl/state
viewer_frame / inspector
runtime log / MCAP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05890" y="1531620"/>
            <a:ext cx="0" cy="16002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43584" y="1591056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Noto Sans CJK SC"/>
              </a:rPr>
              <a:t>速度 + 模式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00300" y="1954530"/>
            <a:ext cx="274320" cy="228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74620" y="937259"/>
            <a:ext cx="0" cy="1019557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74620" y="937259"/>
            <a:ext cx="3122676" cy="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795010" y="937259"/>
            <a:ext cx="2286" cy="137161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00300" y="2606040"/>
            <a:ext cx="22860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628900" y="937259"/>
            <a:ext cx="0" cy="166878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28900" y="937259"/>
            <a:ext cx="448056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09460" y="937259"/>
            <a:ext cx="0" cy="48006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109460" y="1405890"/>
            <a:ext cx="29718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400300" y="3417570"/>
            <a:ext cx="27432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74620" y="1339596"/>
            <a:ext cx="0" cy="20802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74620" y="1337310"/>
            <a:ext cx="29718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601468" y="123901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Noto Sans CJK SC"/>
              </a:rPr>
              <a:t>模式合同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400300" y="4080510"/>
            <a:ext cx="246888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869180" y="3760470"/>
            <a:ext cx="137160" cy="32232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727448" y="3991356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Noto Sans CJK SC"/>
              </a:rPr>
              <a:t>观测合同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00300" y="4686300"/>
            <a:ext cx="27432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674620" y="4686300"/>
            <a:ext cx="0" cy="73152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674620" y="5417820"/>
            <a:ext cx="29718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23744" y="533095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Noto Sans CJK SC"/>
              </a:rPr>
              <a:t>模型文件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400300" y="5303520"/>
            <a:ext cx="2971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697480" y="3749039"/>
            <a:ext cx="0" cy="155448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97480" y="3749039"/>
            <a:ext cx="274320" cy="1143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601468" y="3653028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Noto Sans CJK SC"/>
              </a:rPr>
              <a:t>参考/传感特征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549140" y="1337310"/>
            <a:ext cx="22860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600700" y="1600200"/>
            <a:ext cx="0" cy="2514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94960" y="1764792"/>
            <a:ext cx="4114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Noto Sans CJK SC"/>
              </a:rPr>
              <a:t>RobotState + 输入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794760" y="2114550"/>
            <a:ext cx="777240" cy="77724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0" y="2891790"/>
            <a:ext cx="219456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801868" y="3154680"/>
            <a:ext cx="0" cy="32004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3886200" y="2377440"/>
            <a:ext cx="822960" cy="109728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77740" y="3760470"/>
            <a:ext cx="22860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911596" y="4046220"/>
            <a:ext cx="0" cy="32004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747004" y="4270248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Noto Sans CJK SC"/>
              </a:rPr>
              <a:t>obs 向量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777740" y="4617720"/>
            <a:ext cx="22860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4777740" y="4608576"/>
            <a:ext cx="228600" cy="9144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777740" y="4608576"/>
            <a:ext cx="0" cy="809244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777740" y="5417820"/>
            <a:ext cx="22860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841748" y="533095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Noto Sans CJK SC"/>
              </a:rPr>
              <a:t>推理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5911596" y="4960620"/>
            <a:ext cx="0" cy="22860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911596" y="4617720"/>
            <a:ext cx="900684" cy="34290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747004" y="487375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Noto Sans CJK SC"/>
              </a:rPr>
              <a:t>action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911596" y="4869180"/>
            <a:ext cx="0" cy="120243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5806440" y="6071616"/>
            <a:ext cx="105156" cy="134874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3474720" y="6208776"/>
            <a:ext cx="525780" cy="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474720" y="4608576"/>
            <a:ext cx="0" cy="160020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2971800" y="4608576"/>
            <a:ext cx="502920" cy="914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806440" y="6206490"/>
            <a:ext cx="1303020" cy="228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109460" y="1417320"/>
            <a:ext cx="0" cy="479145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109460" y="1405890"/>
            <a:ext cx="297180" cy="1143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899148" y="130759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Noto Sans CJK SC"/>
              </a:rPr>
              <a:t>控制命令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983980" y="1668780"/>
            <a:ext cx="0" cy="18288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83980" y="2377440"/>
            <a:ext cx="0" cy="18288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7086600" y="2798064"/>
            <a:ext cx="32004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086600" y="2112264"/>
            <a:ext cx="0" cy="68580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086600" y="2112264"/>
            <a:ext cx="32004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922008" y="201625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Noto Sans CJK SC"/>
              </a:rPr>
              <a:t>关节反馈</a:t>
            </a:r>
          </a:p>
        </p:txBody>
      </p:sp>
      <p:cxnSp>
        <p:nvCxnSpPr>
          <p:cNvPr id="95" name="Connector 94"/>
          <p:cNvCxnSpPr/>
          <p:nvPr/>
        </p:nvCxnSpPr>
        <p:spPr>
          <a:xfrm flipH="1" flipV="1">
            <a:off x="7086600" y="2112264"/>
            <a:ext cx="32004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086600" y="1417320"/>
            <a:ext cx="0" cy="694944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086600" y="1405890"/>
            <a:ext cx="32004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7086600" y="1405890"/>
            <a:ext cx="32004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086600" y="1348740"/>
            <a:ext cx="0" cy="6858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6812280" y="1337310"/>
            <a:ext cx="27432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806440" y="6206490"/>
            <a:ext cx="1303020" cy="228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09460" y="3840480"/>
            <a:ext cx="0" cy="236829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109460" y="3840480"/>
            <a:ext cx="297180" cy="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983980" y="4114800"/>
            <a:ext cx="0" cy="18288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983980" y="4777740"/>
            <a:ext cx="0" cy="18288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7086600" y="3840480"/>
            <a:ext cx="32004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086600" y="1417320"/>
            <a:ext cx="0" cy="24231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4777740" y="1337310"/>
            <a:ext cx="2308860" cy="8001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66460" y="2114550"/>
            <a:ext cx="1120140" cy="1143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086600" y="2125980"/>
            <a:ext cx="0" cy="3945636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086600" y="6071616"/>
            <a:ext cx="320040" cy="2057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876288" y="5980176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Noto Sans CJK SC"/>
              </a:rPr>
              <a:t>遥测/日志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0561320" y="1405890"/>
            <a:ext cx="137160" cy="1143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698480" y="1417320"/>
            <a:ext cx="0" cy="4654296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10561320" y="6071616"/>
            <a:ext cx="137160" cy="2057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561320" y="5189220"/>
            <a:ext cx="137160" cy="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698480" y="5189220"/>
            <a:ext cx="0" cy="882396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10561320" y="6071616"/>
            <a:ext cx="137160" cy="2057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11480" y="6940296"/>
            <a:ext cx="25146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73152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Noto Sans CJK SC"/>
              </a:rPr>
              <a:t>蓝色：状态/观测数据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788920" y="6940296"/>
            <a:ext cx="251460" cy="0"/>
          </a:xfrm>
          <a:prstGeom prst="line">
            <a:avLst/>
          </a:prstGeom>
          <a:ln w="279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310896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Noto Sans CJK SC"/>
              </a:rPr>
              <a:t>紫色：策略推理链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5166360" y="6940296"/>
            <a:ext cx="251460" cy="0"/>
          </a:xfrm>
          <a:prstGeom prst="line">
            <a:avLst/>
          </a:prstGeom>
          <a:ln w="279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48640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Noto Sans CJK SC"/>
              </a:rPr>
              <a:t>橙色：控制命令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543800" y="6940296"/>
            <a:ext cx="251460" cy="0"/>
          </a:xfrm>
          <a:prstGeom prst="line">
            <a:avLst/>
          </a:prstGeom>
          <a:ln w="2794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86384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Noto Sans CJK SC"/>
              </a:rPr>
              <a:t>虚线：遥测/日志/反馈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08760" y="137160"/>
            <a:ext cx="79552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DejaVu Sans"/>
              </a:rPr>
              <a:t>Humanoid RL Deploy Runtime Architecture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02336"/>
            <a:ext cx="768096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DejaVu Sans"/>
              </a:rPr>
              <a:t>Real-robot RL_solver and MuJoCo sim2sim share IntegratedControllerRuntime / RL_controller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" y="685800"/>
            <a:ext cx="2308860" cy="5989320"/>
          </a:xfrm>
          <a:prstGeom prst="roundRect">
            <a:avLst/>
          </a:prstGeom>
          <a:solidFill>
            <a:srgbClr val="FFF7DF"/>
          </a:solidFill>
          <a:ln w="12700">
            <a:solidFill>
              <a:srgbClr val="D7C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777240"/>
            <a:ext cx="212598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DejaVu Sans"/>
              </a:rPr>
              <a:t>External Inputs and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685800"/>
            <a:ext cx="4206240" cy="5989320"/>
          </a:xfrm>
          <a:prstGeom prst="roundRect">
            <a:avLst/>
          </a:prstGeom>
          <a:solidFill>
            <a:srgbClr val="F2EDFF"/>
          </a:solidFill>
          <a:ln w="12700">
            <a:solidFill>
              <a:srgbClr val="C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777240"/>
            <a:ext cx="4023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DejaVu Sans"/>
              </a:rPr>
              <a:t>Shared Policy-Control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685800"/>
            <a:ext cx="3497580" cy="5989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B7C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777240"/>
            <a:ext cx="331470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DejaVu Sans"/>
              </a:rPr>
              <a:t>Execution Backends and Observability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74420"/>
            <a:ext cx="1988820" cy="457200"/>
          </a:xfrm>
          <a:prstGeom prst="roundRect">
            <a:avLst/>
          </a:prstGeom>
          <a:solidFill>
            <a:srgbClr val="FFFDF6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Operator GUI / Scripts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humanoid_ops_gui.py, joystick, shell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1988820" cy="525780"/>
          </a:xfrm>
          <a:prstGeom prst="roundRect">
            <a:avLst/>
          </a:prstGeom>
          <a:solidFill>
            <a:srgbClr val="FFFDF6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DDS / ROS 2 Control Topics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/humanoid/rl/teleop
/humanoid/rl/mode_control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77440"/>
            <a:ext cx="1988820" cy="457200"/>
          </a:xfrm>
          <a:prstGeom prst="roundRect">
            <a:avLst/>
          </a:prstGeom>
          <a:solidFill>
            <a:srgbClr val="FFFDF6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IMU Input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/imu/yesense
real robot path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154680"/>
            <a:ext cx="1988820" cy="52578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Mode and Robot Config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rl_cfg.yaml + profiles/*.yaml
joint order, gains, limits, policy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40480"/>
            <a:ext cx="1988820" cy="48006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Observation Manifests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observation_manifest_*.yaml
term order and feature dimensions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480560"/>
            <a:ext cx="1988820" cy="41148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Policy Assets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policies/*.onnx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052060"/>
            <a:ext cx="1988820" cy="502920"/>
          </a:xfrm>
          <a:prstGeom prst="roundRect">
            <a:avLst/>
          </a:prstGeom>
          <a:solidFill>
            <a:srgbClr val="EEF7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Reference / External Features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ReferenceMotionProvider
ExternalObservationProvider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1074420"/>
            <a:ext cx="157734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ModeProfileRegistry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loads deploy_mode_profiles once
resolves config_section per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7740" y="1074420"/>
            <a:ext cx="203454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DejaVu Sans"/>
              </a:rPr>
              <a:t>IntegratedControllerRuntime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caches latest teleop and mode command
computes phase_t, calls controller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1851660"/>
            <a:ext cx="217170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DejaVu Sans"/>
              </a:rPr>
              <a:t>RL_controller::step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state/command update, mode switch, observation build, policy inference, command assembly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628900"/>
            <a:ext cx="1600200" cy="525780"/>
          </a:xfrm>
          <a:prstGeom prst="roundRect">
            <a:avLst/>
          </a:prstGeom>
          <a:solidFill>
            <a:srgbClr val="FFFDF4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DeployStateMachine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zero, start, stop, e-stop
mode/lifecycle control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91456" y="2628900"/>
            <a:ext cx="2020824" cy="525780"/>
          </a:xfrm>
          <a:prstGeom prst="roundRect">
            <a:avLst/>
          </a:prstGeom>
          <a:solidFill>
            <a:srgbClr val="FFFDF4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Active ModeProfile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obs/action/reference joint contracts
policy adapter and strategy settings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474720"/>
            <a:ext cx="1805940" cy="57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DejaVu Sans"/>
              </a:rPr>
              <a:t>Observation Feature Context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RobotState + teleop + phase_t
last_action + reference/external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6340" y="3474720"/>
            <a:ext cx="1805940" cy="57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ObservationBuilder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manifest registry assembly
deterministic obs vector layout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4366260"/>
            <a:ext cx="18059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Observation History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obs deque
stacked observation buffer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6340" y="4366260"/>
            <a:ext cx="18059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00">
                <a:solidFill>
                  <a:srgbClr val="0F172A"/>
                </a:solidFill>
                <a:latin typeface="DejaVu Sans"/>
              </a:rPr>
              <a:t>PolicyInferenceStrategy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sync weighted
or chunked receding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5189220"/>
            <a:ext cx="18059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OnnxPolicyAdapter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backend-neutral policy interface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6340" y="5189220"/>
            <a:ext cx="18059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OnnxPolicyRunner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ONNX Runtime inference
action + optional extra outputs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500" y="5943600"/>
            <a:ext cx="1805940" cy="5257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RobotCommandData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target q, torque, gains
runtime command mode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143000"/>
            <a:ext cx="315468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Real-Robot Path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RL_solver / RobotSolver
DDS input cache, motor state read, HOLD handling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851660"/>
            <a:ext cx="3154680" cy="5257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Motor Shared Memory I/O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MotorShmIo + kinematic conversion
read joint feedback / write targets and torque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2560320"/>
            <a:ext cx="3154680" cy="4800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Robot Motors and Sensors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joint q/dq, torque,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566160"/>
            <a:ext cx="31546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MuJoCo Sim2Sim Path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mujoco_sim_bridge C++ backend
builds RobotState from qpos/qvel/base/body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297680"/>
            <a:ext cx="3154680" cy="4800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MuJoCo Actuator Writeback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policy joints + HOLD joints
mj_step / hold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960620"/>
            <a:ext cx="31546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Viewer / Frontend Mirror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GLFW or Python viewer topics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5806440"/>
            <a:ext cx="3154680" cy="571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b="1" sz="1150">
                <a:solidFill>
                  <a:srgbClr val="0F172A"/>
                </a:solidFill>
                <a:latin typeface="DejaVu Sans"/>
              </a:rPr>
              <a:t>Observable Outputs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  <a:latin typeface="DejaVu Sans"/>
              </a:rPr>
              <a:t>/humanoid/rl/state
viewer_frame / inspector
runtime log / MCAP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05890" y="1531620"/>
            <a:ext cx="0" cy="16002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02436" y="1591056"/>
            <a:ext cx="4114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DejaVu Sans"/>
              </a:rPr>
              <a:t>velocity + mode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00300" y="1954530"/>
            <a:ext cx="274320" cy="228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74620" y="937259"/>
            <a:ext cx="0" cy="1019557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74620" y="937259"/>
            <a:ext cx="3122676" cy="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795010" y="937259"/>
            <a:ext cx="2286" cy="137161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00300" y="2606040"/>
            <a:ext cx="22860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628900" y="937259"/>
            <a:ext cx="0" cy="166878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28900" y="937259"/>
            <a:ext cx="448056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09460" y="937259"/>
            <a:ext cx="0" cy="48006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109460" y="1405890"/>
            <a:ext cx="29718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400300" y="3417570"/>
            <a:ext cx="27432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74620" y="1339596"/>
            <a:ext cx="0" cy="20802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74620" y="1337310"/>
            <a:ext cx="29718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587752" y="1239012"/>
            <a:ext cx="35661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DejaVu Sans"/>
              </a:rPr>
              <a:t>mode contract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400300" y="4080510"/>
            <a:ext cx="246888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869180" y="3760470"/>
            <a:ext cx="137160" cy="32232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727448" y="3991356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DejaVu Sans"/>
              </a:rPr>
              <a:t>obs contract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00300" y="4686300"/>
            <a:ext cx="27432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674620" y="4686300"/>
            <a:ext cx="0" cy="73152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674620" y="5417820"/>
            <a:ext cx="29718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05456" y="5330952"/>
            <a:ext cx="3657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DejaVu Sans"/>
              </a:rPr>
              <a:t>model file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400300" y="5303520"/>
            <a:ext cx="2971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697480" y="3749039"/>
            <a:ext cx="0" cy="155448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97480" y="3749039"/>
            <a:ext cx="274320" cy="11431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423160" y="3653028"/>
            <a:ext cx="6858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DejaVu Sans"/>
              </a:rPr>
              <a:t>reference/sensor features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549140" y="1337310"/>
            <a:ext cx="22860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600700" y="1600200"/>
            <a:ext cx="0" cy="2514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40096" y="1764792"/>
            <a:ext cx="52120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DejaVu Sans"/>
              </a:rPr>
              <a:t>RobotState + inputs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794760" y="2114550"/>
            <a:ext cx="777240" cy="77724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0" y="2891790"/>
            <a:ext cx="219456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801868" y="3154680"/>
            <a:ext cx="0" cy="32004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3886200" y="2377440"/>
            <a:ext cx="822960" cy="109728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77740" y="3760470"/>
            <a:ext cx="22860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911596" y="4046220"/>
            <a:ext cx="0" cy="32004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728716" y="4270248"/>
            <a:ext cx="3657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DejaVu Sans"/>
              </a:rPr>
              <a:t>obs vector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777740" y="4617720"/>
            <a:ext cx="22860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4777740" y="4608576"/>
            <a:ext cx="228600" cy="9144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777740" y="4608576"/>
            <a:ext cx="0" cy="809244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777740" y="5417820"/>
            <a:ext cx="22860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841748" y="533095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DejaVu Sans"/>
              </a:rPr>
              <a:t>inference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5911596" y="4960620"/>
            <a:ext cx="0" cy="22860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911596" y="4617720"/>
            <a:ext cx="900684" cy="34290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747004" y="4873752"/>
            <a:ext cx="3291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DejaVu Sans"/>
              </a:rPr>
              <a:t>action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911596" y="4869180"/>
            <a:ext cx="0" cy="120243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5806440" y="6071616"/>
            <a:ext cx="105156" cy="134874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3474720" y="6208776"/>
            <a:ext cx="525780" cy="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474720" y="4608576"/>
            <a:ext cx="0" cy="160020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2971800" y="4608576"/>
            <a:ext cx="502920" cy="914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806440" y="6206490"/>
            <a:ext cx="1303020" cy="228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109460" y="1417320"/>
            <a:ext cx="0" cy="479145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109460" y="1405890"/>
            <a:ext cx="297180" cy="1143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858000" y="1307592"/>
            <a:ext cx="4114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DejaVu Sans"/>
              </a:rPr>
              <a:t>control command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983980" y="1668780"/>
            <a:ext cx="0" cy="18288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83980" y="2377440"/>
            <a:ext cx="0" cy="18288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7086600" y="2798064"/>
            <a:ext cx="32004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086600" y="2112264"/>
            <a:ext cx="0" cy="68580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086600" y="2112264"/>
            <a:ext cx="32004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894576" y="2016252"/>
            <a:ext cx="3840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563EB"/>
                </a:solidFill>
                <a:latin typeface="DejaVu Sans"/>
              </a:rPr>
              <a:t>joint feedback</a:t>
            </a:r>
          </a:p>
        </p:txBody>
      </p:sp>
      <p:cxnSp>
        <p:nvCxnSpPr>
          <p:cNvPr id="95" name="Connector 94"/>
          <p:cNvCxnSpPr/>
          <p:nvPr/>
        </p:nvCxnSpPr>
        <p:spPr>
          <a:xfrm flipH="1" flipV="1">
            <a:off x="7086600" y="2112264"/>
            <a:ext cx="320040" cy="2286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086600" y="1417320"/>
            <a:ext cx="0" cy="694944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086600" y="1405890"/>
            <a:ext cx="32004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7086600" y="1405890"/>
            <a:ext cx="32004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086600" y="1348740"/>
            <a:ext cx="0" cy="6858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6812280" y="1337310"/>
            <a:ext cx="274320" cy="1143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806440" y="6206490"/>
            <a:ext cx="1303020" cy="228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09460" y="3840480"/>
            <a:ext cx="0" cy="2368296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109460" y="3840480"/>
            <a:ext cx="297180" cy="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983980" y="4114800"/>
            <a:ext cx="0" cy="18288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983980" y="4777740"/>
            <a:ext cx="0" cy="18288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7086600" y="3840480"/>
            <a:ext cx="32004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086600" y="1417320"/>
            <a:ext cx="0" cy="24231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4777740" y="1337310"/>
            <a:ext cx="2308860" cy="8001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66460" y="2114550"/>
            <a:ext cx="1120140" cy="1143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086600" y="2125980"/>
            <a:ext cx="0" cy="3945636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086600" y="6071616"/>
            <a:ext cx="320040" cy="2057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848856" y="5980176"/>
            <a:ext cx="3840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DejaVu Sans"/>
              </a:rPr>
              <a:t>telemetry/logs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0561320" y="1405890"/>
            <a:ext cx="137160" cy="1143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698480" y="1417320"/>
            <a:ext cx="0" cy="4654296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10561320" y="6071616"/>
            <a:ext cx="137160" cy="2057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561320" y="5189220"/>
            <a:ext cx="137160" cy="0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698480" y="5189220"/>
            <a:ext cx="0" cy="882396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10561320" y="6071616"/>
            <a:ext cx="137160" cy="20574"/>
          </a:xfrm>
          <a:prstGeom prst="line">
            <a:avLst/>
          </a:prstGeom>
          <a:ln w="2286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11480" y="6940296"/>
            <a:ext cx="25146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73152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DejaVu Sans"/>
              </a:rPr>
              <a:t>Blue: state/observation data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788920" y="6940296"/>
            <a:ext cx="251460" cy="0"/>
          </a:xfrm>
          <a:prstGeom prst="line">
            <a:avLst/>
          </a:prstGeom>
          <a:ln w="279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310896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DejaVu Sans"/>
              </a:rPr>
              <a:t>Purple: policy inference chain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5166360" y="6940296"/>
            <a:ext cx="251460" cy="0"/>
          </a:xfrm>
          <a:prstGeom prst="line">
            <a:avLst/>
          </a:prstGeom>
          <a:ln w="279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48640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DejaVu Sans"/>
              </a:rPr>
              <a:t>Orange: control commands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543800" y="6940296"/>
            <a:ext cx="251460" cy="0"/>
          </a:xfrm>
          <a:prstGeom prst="line">
            <a:avLst/>
          </a:prstGeom>
          <a:ln w="2794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863840" y="6858000"/>
            <a:ext cx="1965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DejaVu Sans"/>
              </a:rPr>
              <a:t>Dashed: telemetry/logging/feedback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